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CO2e (tonnes)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0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Asia-Pacific</c:v>
                  </c:pt>
                  <c:pt idx="1">
                    <c:v>LATAM</c:v>
                  </c:pt>
                  <c:pt idx="2">
                    <c:v>Asia</c:v>
                  </c:pt>
                  <c:pt idx="3">
                    <c:v>N. America</c:v>
                  </c:pt>
                  <c:pt idx="4">
                    <c:v>Europe</c:v>
                  </c:pt>
                  <c:pt idx="5">
                    <c:v>Africa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89424</c:v>
                </c:pt>
                <c:pt idx="1">
                  <c:v>39662</c:v>
                </c:pt>
                <c:pt idx="2">
                  <c:v>27797</c:v>
                </c:pt>
                <c:pt idx="3">
                  <c:v>14614</c:v>
                </c:pt>
                <c:pt idx="4">
                  <c:v>5446</c:v>
                </c:pt>
                <c:pt idx="5">
                  <c:v>1147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20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20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CO2e by Mode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bubble3D val="0"/>
            <c:spPr>
              <a:solidFill>
                <a:srgbClr val="8FBFB5"/>
              </a:solidFill>
              <a:effectLst/>
            </c:spPr>
          </c:dPt>
          <c:dPt>
            <c:idx val="3"/>
            <c:bubble3D val="0"/>
            <c:spPr>
              <a:solidFill>
                <a:srgbClr val="02C39A"/>
              </a:solidFill>
              <a:effectLst/>
            </c:spPr>
          </c:dPt>
          <c:dPt>
            <c:idx val="4"/>
            <c:bubble3D val="0"/>
            <c:spPr>
              <a:solidFill>
                <a:srgbClr val="C9E4E0"/>
              </a:solidFill>
              <a:effectLst/>
            </c:spPr>
          </c:dPt>
          <c:dPt>
            <c:idx val="5"/>
            <c:bubble3D val="0"/>
            <c:spPr>
              <a:solidFill>
                <a:srgbClr val="0B202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Business Class</c:v>
                </c:pt>
                <c:pt idx="1">
                  <c:v>Economy</c:v>
                </c:pt>
                <c:pt idx="2">
                  <c:v>Road (diesel/petrol/hybrid)</c:v>
                </c:pt>
                <c:pt idx="3">
                  <c:v>First Class</c:v>
                </c:pt>
                <c:pt idx="4">
                  <c:v>Train</c:v>
                </c:pt>
                <c:pt idx="5">
                  <c:v>EV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73146</c:v>
                </c:pt>
                <c:pt idx="1">
                  <c:v>69726</c:v>
                </c:pt>
                <c:pt idx="2">
                  <c:v>26080</c:v>
                </c:pt>
                <c:pt idx="3">
                  <c:v>6521</c:v>
                </c:pt>
                <c:pt idx="4">
                  <c:v>1424</c:v>
                </c:pt>
                <c:pt idx="5">
                  <c:v>1192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0B202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027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3200400"/>
            <a:ext cx="4572000" cy="45720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ANALYTICS 2026 · CAPSTONE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Decarbonizing Travel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roadmap for Celonis' Net Zero 2030 travel strategy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2743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114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5176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Gautam Bhardwaj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Jagannath University, Delhi NCR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029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&amp; YEAR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MCA, 2nd Semester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486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1760" y="5486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gautambhardwaj261203@gmail.com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178,090 tonnes CO2e in one year — and 45% of it comes from a seat choice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"Celonis employee travel emitted 178,090 tCO2e last year across 65,289 trips. Nearly 6 in 10 of those emissions came from just a quarter of the trips."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8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08483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178,090t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CO2e emitted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196596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8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51960" y="208483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$140.5M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434840" y="2697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travel spend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96596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8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0" y="208483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59.3%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229600" y="2697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CO2e from the top 25% highest-carbon trips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INSIGHTS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41648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0416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397764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cabin flights (Business + First) are 45% of trips but drive 44.8% of emissions — nearly 2x Economy at almost the same average cost.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498848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4988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443484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Asia-Pacific-origin travel (mainly Sydney routes) is 32.5% of trips but 50.2% of all emissions — the single largest regional hotspot.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956048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9560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489204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Out-of-policy trips are only 18.4% of volume but 24.4% of emissions — policy breaches are disproportionately carbon-heavy.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RECOMMENDATIONS + PROJECTED IMPACT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4041648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40416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29400" y="39776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discretionary Business/First Class → Economy where feasible: ~38.8M kg CO2e saved/yr at near-zero net cost.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4498848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44988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29400" y="44348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petrol/diesel ground travel to EVs on eligible routes: ~6.6M kg CO2e saved/yr.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4956048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49560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29400" y="48920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pre-trip policy checks (auto-flag out-of-policy bookings): targets the 24.4% of emissions tied to policy breaches.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62356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0B2027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57424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business travel is Celonis' largest controllable emissions category on the path to Net Zero by 2030. With decentralized booking today, small policy nudges at the point of booking — not blanket travel bans — can cut nearly half of travel emissions while preserving global team agility.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PROFILE &amp; BENCHMARKING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Asia-Pacific travel drives half of all emissions, at nearly 3x the global average intensity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Emissions Footprint (public dataset)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08760"/>
          <a:ext cx="65836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315200" y="11887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 Context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15200" y="1508760"/>
            <a:ext cx="4389120" cy="1554480"/>
          </a:xfrm>
          <a:prstGeom prst="roundRect">
            <a:avLst>
              <a:gd name="adj" fmla="val 4706"/>
            </a:avLst>
          </a:prstGeom>
          <a:solidFill>
            <a:srgbClr val="F7FAF9"/>
          </a:solidFill>
          <a:ln w="12700">
            <a:solidFill>
              <a:srgbClr val="E1E8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43800" y="16459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2,727 kg </a:t>
            </a:r>
            <a:pPr indent="0" marL="0">
              <a:buNone/>
            </a:pPr>
            <a:r>
              <a:rPr lang="en-US" sz="1100" dirty="0">
                <a:solidFill>
                  <a:srgbClr val="0B2027"/>
                </a:solidFill>
              </a:rPr>
              <a:t>CO2e per trip (Celonis avg)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543800" y="21488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long-haul business-class flight alone can emit 2,000+ kg CO2e per passenger (GBTA) — roughly matching our per-trip average, signalling heavy reliance on premium long-haul.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315200" y="3200400"/>
            <a:ext cx="4389120" cy="1874520"/>
          </a:xfrm>
          <a:prstGeom prst="roundRect">
            <a:avLst>
              <a:gd name="adj" fmla="val 3902"/>
            </a:avLst>
          </a:prstGeom>
          <a:solidFill>
            <a:srgbClr val="0B2027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3337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Asia-Pacific vs. Global Avg Intensity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543800" y="3657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4,208 kg </a:t>
            </a:r>
            <a:pPr indent="0" marL="0">
              <a:buNone/>
            </a:pPr>
            <a:r>
              <a:rPr lang="en-US" sz="1100" dirty="0">
                <a:solidFill>
                  <a:srgbClr val="C9E4E0"/>
                </a:solidFill>
              </a:rPr>
              <a:t>CO2e/trip — Asia-Pacific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543800" y="4114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602 kg </a:t>
            </a:r>
            <a:pPr indent="0" marL="0">
              <a:buNone/>
            </a:pPr>
            <a:r>
              <a:rPr lang="en-US" sz="1100" dirty="0">
                <a:solidFill>
                  <a:srgbClr val="C9E4E0"/>
                </a:solidFill>
              </a:rPr>
              <a:t>CO2e/trip — Europe (lowest region)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543800" y="4572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Asia-Pacific trips are ~7x more carbon-intensive per trip than European trips — largely driven by long-haul Sydney routes on premium cabins.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Sales-led customer travel on premium cabins is the emissions core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by Travel Mode (kt CO2e)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0876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852160" y="118872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Business Unit by Emissions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852160" y="1508760"/>
            <a:ext cx="5852160" cy="411480"/>
          </a:xfrm>
          <a:prstGeom prst="rect">
            <a:avLst/>
          </a:prstGeom>
          <a:solidFill>
            <a:srgbClr val="F7FAF9"/>
          </a:solidFill>
          <a:ln/>
        </p:spPr>
      </p:sp>
      <p:sp>
        <p:nvSpPr>
          <p:cNvPr id="8" name="Text 5"/>
          <p:cNvSpPr/>
          <p:nvPr/>
        </p:nvSpPr>
        <p:spPr>
          <a:xfrm>
            <a:off x="5989320" y="15636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321040" y="156362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60,139t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784080" y="15636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33.8% of total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2011680"/>
            <a:ext cx="585216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5989320" y="206654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321040" y="206654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33,377t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784080" y="20665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18.7% of total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52160" y="2514600"/>
            <a:ext cx="5852160" cy="411480"/>
          </a:xfrm>
          <a:prstGeom prst="rect">
            <a:avLst/>
          </a:prstGeom>
          <a:solidFill>
            <a:srgbClr val="F7FAF9"/>
          </a:solidFill>
          <a:ln/>
        </p:spPr>
      </p:sp>
      <p:sp>
        <p:nvSpPr>
          <p:cNvPr id="16" name="Text 13"/>
          <p:cNvSpPr/>
          <p:nvPr/>
        </p:nvSpPr>
        <p:spPr>
          <a:xfrm>
            <a:off x="5989320" y="25694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Engineering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321040" y="256946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17,238t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784080" y="25694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9.7% of total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852160" y="315468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Routes by Total Emissions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852160" y="3474720"/>
            <a:ext cx="5852160" cy="411480"/>
          </a:xfrm>
          <a:prstGeom prst="rect">
            <a:avLst/>
          </a:prstGeom>
          <a:solidFill>
            <a:srgbClr val="F7FAF9"/>
          </a:solidFill>
          <a:ln/>
        </p:spPr>
      </p:sp>
      <p:sp>
        <p:nvSpPr>
          <p:cNvPr id="21" name="Text 18"/>
          <p:cNvSpPr/>
          <p:nvPr/>
        </p:nvSpPr>
        <p:spPr>
          <a:xfrm>
            <a:off x="5989320" y="352958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Sydney -&gt; Frankfurt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961120" y="352958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37,919t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149840" y="352958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5,366 trips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852160" y="3977640"/>
            <a:ext cx="585216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5989320" y="403250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Sydney -&gt; Los Angeles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961120" y="403250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28,177t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149840" y="40325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5,538 trips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852160" y="4480560"/>
            <a:ext cx="5852160" cy="411480"/>
          </a:xfrm>
          <a:prstGeom prst="rect">
            <a:avLst/>
          </a:prstGeom>
          <a:solidFill>
            <a:srgbClr val="F7FAF9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453542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Sao Paulo -&gt; Miami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961120" y="453542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15,477t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0149840" y="453542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5,716 trips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852160" y="5074920"/>
            <a:ext cx="5852160" cy="868680"/>
          </a:xfrm>
          <a:prstGeom prst="roundRect">
            <a:avLst>
              <a:gd name="adj" fmla="val 8421"/>
            </a:avLst>
          </a:prstGeom>
          <a:solidFill>
            <a:srgbClr val="0B2027"/>
          </a:solidFill>
          <a:ln/>
        </p:spPr>
      </p:sp>
      <p:sp>
        <p:nvSpPr>
          <p:cNvPr id="33" name="Text 30"/>
          <p:cNvSpPr/>
          <p:nvPr/>
        </p:nvSpPr>
        <p:spPr>
          <a:xfrm>
            <a:off x="6080760" y="5193792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Sydney-originated routes alone account for ~85,000t CO2e — nearly half of total emissions from three routes.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INEFFICIENCIES IDENTIFIED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Policy breaches and premium-cabin defaults are the biggest process pain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532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7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630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435608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Out-of-policy bookings are disproportionately carbon-heavy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18.4% of trips are booked out-of-policy, but they generate 24.4% of total emissions (avg 3,625 kg CO2e/trip vs. 2,526 kg for in-policy trips) — a 44% higher footprint per trip.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234440"/>
            <a:ext cx="5532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7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4630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0" y="1435608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carbon-based nudge at point of booking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21031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+ First Class trips average 4,981 kg CO2e vs. 2,555 kg for Economy — nearly 2x — yet the average cost difference is under $20. Travelers have no visible cost/carbon tradeoff to weigh when the booking process is decentralized.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5532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7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794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3767328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transport defaults to combustion vehicles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4348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16,569 trips (25% of all trips) still use petrol/diesel vehicles averaging 1,463 kg CO2e, vs. just 1,066 kg for the EV option already available in the fleet mix — an under-utilized low-carbon alternative.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3566160"/>
            <a:ext cx="5532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7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794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3767328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Long-haul Sydney routes lack low-carbon substitution options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37960" y="44348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3 emitting routes are all long-haul flights with no viable rail/EV alternative, meaning reduction must come from cabin-class policy and trip necessity review, not mode substitution.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LOW-CARBON STRATEGIC 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 quantified moves cut travel emissions by ~25% at near-zero net cost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7FAF9"/>
          </a:solidFill>
          <a:ln w="12700">
            <a:solidFill>
              <a:srgbClr val="E1E8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44168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discretionary Business/First Class on routes under 8 hours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the 16,008 Business/First Class trips to Economy-equivalent saves 38,773,644 kg CO2e/yr, for a net cost change of only -$3,992 (essentially cost-neutral).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955280" y="1399032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146304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38.8M kg CO2e saved/yr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738360" y="1399032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0B2027"/>
          </a:solidFill>
          <a:ln/>
        </p:spPr>
      </p:sp>
      <p:sp>
        <p:nvSpPr>
          <p:cNvPr id="10" name="Text 8"/>
          <p:cNvSpPr/>
          <p:nvPr/>
        </p:nvSpPr>
        <p:spPr>
          <a:xfrm>
            <a:off x="9829800" y="146304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 net cost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944368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eligible petrol/diesel ground travel to EV fleet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85800" y="3383280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Migrating the 16,569 petrol/diesel car trips to the EV option already in the mix (1,066 kg avg vs. 1,463 kg avg) saves 6,580,306 kg CO2e/yr.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55280" y="2999232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306324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6.6M kg CO2e saved/yr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738360" y="2999232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0B2027"/>
          </a:solidFill>
          <a:ln/>
        </p:spPr>
      </p:sp>
      <p:sp>
        <p:nvSpPr>
          <p:cNvPr id="17" name="Text 15"/>
          <p:cNvSpPr/>
          <p:nvPr/>
        </p:nvSpPr>
        <p:spPr>
          <a:xfrm>
            <a:off x="9829800" y="306324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transition cost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43484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7FAF9"/>
          </a:solidFill>
          <a:ln w="12700">
            <a:solidFill>
              <a:srgbClr val="E1E8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544568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Auto-flag out-of-policy bookings before confirmation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85800" y="4983480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Out-of-policy trips run 44% higher CO2e per trip. Routing these through a mandatory carbon-aware approval step targets the 24.4% of emissions tied to policy breaches — an estimated 10.6M kg CO2e/yr addressable.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955280" y="4599432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466344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~10.6M kg CO2e addressable/yr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738360" y="4599432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0B2027"/>
          </a:solidFill>
          <a:ln/>
        </p:spPr>
      </p:sp>
      <p:sp>
        <p:nvSpPr>
          <p:cNvPr id="24" name="Text 22"/>
          <p:cNvSpPr/>
          <p:nvPr/>
        </p:nvSpPr>
        <p:spPr>
          <a:xfrm>
            <a:off x="9829800" y="466344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 only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INTEGRATION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phased path from visibility to Net Zero travel by 2030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2026-27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697480" cy="3566160"/>
          </a:xfrm>
          <a:prstGeom prst="roundRect">
            <a:avLst>
              <a:gd name="adj" fmla="val 2034"/>
            </a:avLst>
          </a:prstGeom>
          <a:solidFill>
            <a:srgbClr val="13303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94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2331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6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carbon-cost dashboard at point of booking. Auto-flag out-of-policy &amp; premium-cabin trips. Establish Celonis Process Copilot to monitor booking variants in real time.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08960" y="13716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3716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2027-28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91840" y="2011680"/>
            <a:ext cx="2697480" cy="3566160"/>
          </a:xfrm>
          <a:prstGeom prst="roundRect">
            <a:avLst>
              <a:gd name="adj" fmla="val 2034"/>
            </a:avLst>
          </a:prstGeom>
          <a:solidFill>
            <a:srgbClr val="13303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194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&amp; Automate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697480"/>
            <a:ext cx="2331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6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Economy for trips under 8 hrs unless justified. Expand EV fleet options on all eligible ground routes. Automate approval workflow with carbon threshold gating.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0" y="13716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3716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2028-29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26480" y="2011680"/>
            <a:ext cx="2697480" cy="3566160"/>
          </a:xfrm>
          <a:prstGeom prst="roundRect">
            <a:avLst>
              <a:gd name="adj" fmla="val 2034"/>
            </a:avLst>
          </a:prstGeom>
          <a:solidFill>
            <a:srgbClr val="13303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194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Shift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2697480"/>
            <a:ext cx="2331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6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Renegotiate travel policy caps by Business Unit (starting with Sales &amp; Marketing, the top emitters). Introduce regional travel budgets weighted by carbon intensity, prioritizing Asia-Pacific.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778240" y="13716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961120" y="1371600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0" y="13716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2029-30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961120" y="2011680"/>
            <a:ext cx="2697480" cy="3566160"/>
          </a:xfrm>
          <a:prstGeom prst="roundRect">
            <a:avLst>
              <a:gd name="adj" fmla="val 2034"/>
            </a:avLst>
          </a:prstGeom>
          <a:solidFill>
            <a:srgbClr val="13303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0" y="2194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Zero Readiness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0" y="2697480"/>
            <a:ext cx="2331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6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carbon accounting integrated into T&amp;E systems. Residual unavoidable emissions offset via verified programs. Annual public reporting against GHG Protocol Scope 3 benchmarks.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addressable reduction across all phases: ~56M kg CO2e/yr (~31% of current footprint) before offsets.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2026-07-18T19:52:24Z</dcterms:created>
  <dcterms:modified xsi:type="dcterms:W3CDTF">2026-07-18T19:52:24Z</dcterms:modified>
</cp:coreProperties>
</file>